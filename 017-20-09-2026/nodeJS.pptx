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4" r:id="rId6"/>
    <p:sldId id="265" r:id="rId7"/>
    <p:sldId id="261" r:id="rId8"/>
    <p:sldId id="267" r:id="rId9"/>
    <p:sldId id="268" r:id="rId10"/>
    <p:sldId id="259" r:id="rId11"/>
    <p:sldId id="260" r:id="rId12"/>
    <p:sldId id="266" r:id="rId13"/>
  </p:sldIdLst>
  <p:sldSz cx="12192000" cy="6858000"/>
  <p:notesSz cx="6858000" cy="9144000"/>
  <p:defaultTextStyle>
    <a:defPPr>
      <a:defRPr lang="ar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3B856"/>
    <a:srgbClr val="DD1B16"/>
    <a:srgbClr val="0068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42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65662-94FC-9EB6-946C-B899D9B1CD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CABC41-919C-4BAF-7C89-8465073CAE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112BBE-1928-95EB-DE23-0134415EF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5ABC9-59D9-4BD0-81B3-0E9B876DBD6D}" type="datetimeFigureOut">
              <a:rPr lang="ar-EG" smtClean="0"/>
              <a:t>02/04/1448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A04F6-9F51-AAEE-9173-9A68D62F1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AE765-A74D-6DB7-BC5C-B30CE9A52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A747E-70A5-4138-A958-D2FBEB405239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405899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EE90C-E407-F33D-AF1C-9777AFC7B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8B7DC-9944-B561-2898-3BF910202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C4B2F-DDF3-3210-47FB-5A10CDBCF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5ABC9-59D9-4BD0-81B3-0E9B876DBD6D}" type="datetimeFigureOut">
              <a:rPr lang="ar-EG" smtClean="0"/>
              <a:t>02/04/1448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4D84F-7B8C-7CCA-A968-1ED280922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0EF5A-35E1-09A9-22A6-7D4DDDAA1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A747E-70A5-4138-A958-D2FBEB405239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78382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E36E8-1BA6-210A-1DF1-A5AD5A37B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18BEF5-7816-832C-9394-16F0E76A4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382AB5-A796-1122-FE03-A4B2989E7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5ABC9-59D9-4BD0-81B3-0E9B876DBD6D}" type="datetimeFigureOut">
              <a:rPr lang="ar-EG" smtClean="0"/>
              <a:t>02/04/1448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828D6-ECB2-0201-2C7C-57ED90497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E1BB3-BB8F-DF9D-3A78-83EC0110D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A747E-70A5-4138-A958-D2FBEB405239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60401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AF855-AB6D-67E2-B3CC-91EB01B07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48C63-4373-0D84-B8AA-333BE4E26F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F181C0-A6DF-A95B-BAB3-8B42FC305F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E7E790-3F43-B0AF-F676-DD338A2BC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5ABC9-59D9-4BD0-81B3-0E9B876DBD6D}" type="datetimeFigureOut">
              <a:rPr lang="ar-EG" smtClean="0"/>
              <a:t>02/04/1448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9A1A52-F18E-19B5-667B-6E1490526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2DBBC3-5E3D-6066-E25B-4A52B5FFB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A747E-70A5-4138-A958-D2FBEB405239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364985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60BBA-EFBF-6E5B-643A-56FA1D23D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D4572-EEDF-E9FB-93FF-05DAF0F988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36B9F0-C3E2-B58E-327B-8947EDE3D5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765A14-F587-1521-A709-4A50C98CD5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71242C-9CBA-3E88-C7CD-B917F2FD3E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545ACD-4A24-2ACB-6F38-08BFF01B4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5ABC9-59D9-4BD0-81B3-0E9B876DBD6D}" type="datetimeFigureOut">
              <a:rPr lang="ar-EG" smtClean="0"/>
              <a:t>02/04/1448</a:t>
            </a:fld>
            <a:endParaRPr lang="ar-E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9DD0EA-17CA-73BE-95E9-F649014C0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054CD3-585F-6FA0-4858-B95C15DDE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A747E-70A5-4138-A958-D2FBEB405239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769620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E3DF7-1D93-2D8B-F43A-98CD049C7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820D07-7262-FA65-A6C3-7C6ADE1DE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5ABC9-59D9-4BD0-81B3-0E9B876DBD6D}" type="datetimeFigureOut">
              <a:rPr lang="ar-EG" smtClean="0"/>
              <a:t>02/04/1448</a:t>
            </a:fld>
            <a:endParaRPr lang="ar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5E78D8-13FA-7F01-0609-568DC4EA9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93C177-EDFE-1551-FA69-606C62F7B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A747E-70A5-4138-A958-D2FBEB405239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82221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553DDB-3AF9-FE63-3243-9DFBC944A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5ABC9-59D9-4BD0-81B3-0E9B876DBD6D}" type="datetimeFigureOut">
              <a:rPr lang="ar-EG" smtClean="0"/>
              <a:t>02/04/1448</a:t>
            </a:fld>
            <a:endParaRPr lang="ar-E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27EB01-6454-68ED-FE0B-FCEE4353C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C0EB-AA44-E18B-63B2-D06CFAE47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A747E-70A5-4138-A958-D2FBEB405239}" type="slidenum">
              <a:rPr lang="ar-EG" smtClean="0"/>
              <a:t>‹#›</a:t>
            </a:fld>
            <a:endParaRPr lang="ar-E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ED4D84-8925-6E04-58FC-171D32F55E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7812" y="-67731"/>
            <a:ext cx="10490193" cy="69934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5FE91D-DE9F-9DFD-F334-2CCDA17A8E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3233" y="6001098"/>
            <a:ext cx="1303167" cy="868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928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8EEBF-3DC2-6BEA-CC77-652D68776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5E427-B09C-EB77-EDA1-C582055C8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B08185-D968-D428-24E9-112816488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6614DB-20C9-0033-34C4-83D66D0BB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5ABC9-59D9-4BD0-81B3-0E9B876DBD6D}" type="datetimeFigureOut">
              <a:rPr lang="ar-EG" smtClean="0"/>
              <a:t>02/04/1448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CC391F-48A6-4255-B594-68D9BDC8F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BD6CC8-9375-9441-DFC4-B857C6DB3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A747E-70A5-4138-A958-D2FBEB405239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016178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3768A-6764-F301-1DAF-90282E52D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8C50B8-3857-1FB9-89B9-CFB6A80CB6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B2D5A9-7375-6210-D7E2-E6362297D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7728DD-F6D8-41C0-AD36-92B6FFAB0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5ABC9-59D9-4BD0-81B3-0E9B876DBD6D}" type="datetimeFigureOut">
              <a:rPr lang="ar-EG" smtClean="0"/>
              <a:t>02/04/1448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CDDF94-F500-2E49-B056-650D29935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C574A3-F6AD-56BD-77EE-161B0A57B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A747E-70A5-4138-A958-D2FBEB405239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761803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8E996-F524-C0B0-027B-FB059002E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C2E34F-B3A6-DAE7-9574-4F56399950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B7AD9-8835-C20E-B09E-B273A1077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5ABC9-59D9-4BD0-81B3-0E9B876DBD6D}" type="datetimeFigureOut">
              <a:rPr lang="ar-EG" smtClean="0"/>
              <a:t>02/04/1448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ADCE8-3C7C-2A04-2728-35E580DE2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B16FD-4527-7E68-9DE3-A862C79F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A747E-70A5-4138-A958-D2FBEB405239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68701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7980EB-D7B5-3436-2904-6D6FA20FB4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653F2E-DD2A-B5CC-A47A-5E8B10335E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4FEE2-365E-7404-868A-5477E931D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5ABC9-59D9-4BD0-81B3-0E9B876DBD6D}" type="datetimeFigureOut">
              <a:rPr lang="ar-EG" smtClean="0"/>
              <a:t>02/04/1448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7623E-3013-F04A-4347-B9F6DBC30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7A37-7579-2714-2768-46190EAF1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A747E-70A5-4138-A958-D2FBEB405239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525253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1D3CA3-DC95-5C9B-534A-238FE127C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6072C1-264A-DF08-E88B-D198DD172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68138-3E64-8350-AB7A-A8EC97ACA7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95ABC9-59D9-4BD0-81B3-0E9B876DBD6D}" type="datetimeFigureOut">
              <a:rPr lang="ar-EG" smtClean="0"/>
              <a:t>02/04/1448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05FEC-E2B5-DD06-7DA3-185B56BA83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35088-C505-C875-1E74-24601FD9F9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A747E-70A5-4138-A958-D2FBEB405239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26834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E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A9CF8513-4E10-B91E-E402-7ADFF491CF4D}"/>
              </a:ext>
            </a:extLst>
          </p:cNvPr>
          <p:cNvGrpSpPr/>
          <p:nvPr/>
        </p:nvGrpSpPr>
        <p:grpSpPr>
          <a:xfrm>
            <a:off x="254642" y="3142313"/>
            <a:ext cx="5131143" cy="3033120"/>
            <a:chOff x="-1250047" y="3405672"/>
            <a:chExt cx="6923326" cy="4408457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64EB112-BFD0-C638-16A3-4603C513DE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0047" y="3405672"/>
              <a:ext cx="6612687" cy="4408457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3CF7DB5-892E-8D7A-5993-57226469B5A8}"/>
                </a:ext>
              </a:extLst>
            </p:cNvPr>
            <p:cNvSpPr txBox="1"/>
            <p:nvPr/>
          </p:nvSpPr>
          <p:spPr>
            <a:xfrm>
              <a:off x="-1122294" y="5047227"/>
              <a:ext cx="6795573" cy="155038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sz="6600" dirty="0">
                  <a:solidFill>
                    <a:srgbClr val="C00000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NTI</a:t>
              </a:r>
              <a:endParaRPr lang="en-US" sz="1000" dirty="0">
                <a:solidFill>
                  <a:srgbClr val="C00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>
                <a:lnSpc>
                  <a:spcPct val="70000"/>
                </a:lnSpc>
              </a:pPr>
              <a:r>
                <a:rPr lang="en-US" sz="2400" dirty="0">
                  <a:solidFill>
                    <a:srgbClr val="FF0000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2026</a:t>
              </a:r>
              <a:endParaRPr lang="ar-EG" sz="1000" dirty="0">
                <a:solidFill>
                  <a:srgbClr val="FF0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666AA5A6-B016-56DA-4BA4-019E263DB0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0476" y="2509310"/>
            <a:ext cx="6523036" cy="434869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B5E3888-F7BB-3C1F-7775-4B0B9DB6D66B}"/>
              </a:ext>
            </a:extLst>
          </p:cNvPr>
          <p:cNvSpPr txBox="1"/>
          <p:nvPr/>
        </p:nvSpPr>
        <p:spPr>
          <a:xfrm>
            <a:off x="3399149" y="381336"/>
            <a:ext cx="4940300" cy="177022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11500" dirty="0">
                <a:solidFill>
                  <a:schemeClr val="accent5">
                    <a:lumMod val="7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rPr>
              <a:t>MEAN</a:t>
            </a:r>
            <a:endParaRPr lang="en-US" sz="1600" dirty="0">
              <a:solidFill>
                <a:schemeClr val="accent5">
                  <a:lumMod val="7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  <a:p>
            <a:pPr algn="ctr">
              <a:lnSpc>
                <a:spcPct val="70000"/>
              </a:lnSpc>
            </a:pPr>
            <a:r>
              <a:rPr lang="en-US" sz="4000" dirty="0">
                <a:solidFill>
                  <a:schemeClr val="accent5">
                    <a:lumMod val="5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rPr>
              <a:t>stack</a:t>
            </a:r>
            <a:endParaRPr lang="ar-EG" sz="1600" dirty="0">
              <a:solidFill>
                <a:schemeClr val="accent5">
                  <a:lumMod val="50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6637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277B8A-D6EB-366B-77BB-79B41647C711}"/>
              </a:ext>
            </a:extLst>
          </p:cNvPr>
          <p:cNvSpPr txBox="1"/>
          <p:nvPr/>
        </p:nvSpPr>
        <p:spPr>
          <a:xfrm>
            <a:off x="3240478" y="335151"/>
            <a:ext cx="6051550" cy="168238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11500" dirty="0">
                <a:solidFill>
                  <a:schemeClr val="accent5">
                    <a:lumMod val="7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rPr>
              <a:t>MEAN</a:t>
            </a:r>
            <a:endParaRPr lang="en-US" sz="1600" dirty="0">
              <a:solidFill>
                <a:schemeClr val="accent5">
                  <a:lumMod val="7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  <a:p>
            <a:pPr algn="ctr">
              <a:lnSpc>
                <a:spcPct val="70000"/>
              </a:lnSpc>
            </a:pPr>
            <a:r>
              <a:rPr lang="en-US" sz="3200" dirty="0">
                <a:solidFill>
                  <a:schemeClr val="accent5">
                    <a:lumMod val="5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rPr>
              <a:t>stack</a:t>
            </a:r>
            <a:endParaRPr lang="ar-EG" sz="1600" dirty="0">
              <a:solidFill>
                <a:schemeClr val="accent5">
                  <a:lumMod val="50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2FC653E-622C-5C59-AB76-E9DBBB04CA5B}"/>
              </a:ext>
            </a:extLst>
          </p:cNvPr>
          <p:cNvGrpSpPr/>
          <p:nvPr/>
        </p:nvGrpSpPr>
        <p:grpSpPr>
          <a:xfrm>
            <a:off x="4914565" y="2695175"/>
            <a:ext cx="2579806" cy="2504208"/>
            <a:chOff x="4139514" y="1865870"/>
            <a:chExt cx="3373394" cy="327454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795A0C2-08A7-5917-4B5D-60AFDDCB86DE}"/>
                </a:ext>
              </a:extLst>
            </p:cNvPr>
            <p:cNvGrpSpPr/>
            <p:nvPr/>
          </p:nvGrpSpPr>
          <p:grpSpPr>
            <a:xfrm>
              <a:off x="4409303" y="2568790"/>
              <a:ext cx="2833816" cy="1868701"/>
              <a:chOff x="4459590" y="2494650"/>
              <a:chExt cx="2833816" cy="1868701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83933578-721A-B5EE-56BA-8F784C97AB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59590" y="2494650"/>
                <a:ext cx="2833816" cy="625432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BDA53D1C-8542-B14B-3BE7-580E7D7DFA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59590" y="3112487"/>
                <a:ext cx="2833816" cy="1250864"/>
              </a:xfrm>
              <a:prstGeom prst="rect">
                <a:avLst/>
              </a:prstGeom>
            </p:spPr>
          </p:pic>
        </p:grp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C76DCB64-282B-B1CD-75CD-20ED55687867}"/>
                </a:ext>
              </a:extLst>
            </p:cNvPr>
            <p:cNvSpPr/>
            <p:nvPr/>
          </p:nvSpPr>
          <p:spPr>
            <a:xfrm>
              <a:off x="4139514" y="1865870"/>
              <a:ext cx="3373394" cy="3274541"/>
            </a:xfrm>
            <a:prstGeom prst="roundRect">
              <a:avLst/>
            </a:prstGeom>
            <a:noFill/>
            <a:ln w="76200">
              <a:solidFill>
                <a:schemeClr val="accent5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96C2422-179E-D16A-021A-9D4821D73A87}"/>
              </a:ext>
            </a:extLst>
          </p:cNvPr>
          <p:cNvGrpSpPr/>
          <p:nvPr/>
        </p:nvGrpSpPr>
        <p:grpSpPr>
          <a:xfrm>
            <a:off x="941868" y="2695175"/>
            <a:ext cx="2579806" cy="2504208"/>
            <a:chOff x="384438" y="1963309"/>
            <a:chExt cx="3373394" cy="327454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4C4D086-EEC5-2647-BD0C-ECD49D703E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9346" y="2568790"/>
              <a:ext cx="2063578" cy="2063578"/>
            </a:xfrm>
            <a:prstGeom prst="rect">
              <a:avLst/>
            </a:prstGeom>
          </p:spPr>
        </p:pic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FE82CFCA-23F2-E631-340B-3D16BB46004C}"/>
                </a:ext>
              </a:extLst>
            </p:cNvPr>
            <p:cNvSpPr/>
            <p:nvPr/>
          </p:nvSpPr>
          <p:spPr>
            <a:xfrm>
              <a:off x="384438" y="1963309"/>
              <a:ext cx="3373394" cy="3274541"/>
            </a:xfrm>
            <a:prstGeom prst="roundRect">
              <a:avLst/>
            </a:prstGeom>
            <a:noFill/>
            <a:ln w="76200">
              <a:solidFill>
                <a:schemeClr val="accent5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255B3E9-40EF-0555-E576-12B846F74073}"/>
              </a:ext>
            </a:extLst>
          </p:cNvPr>
          <p:cNvGrpSpPr/>
          <p:nvPr/>
        </p:nvGrpSpPr>
        <p:grpSpPr>
          <a:xfrm>
            <a:off x="8887262" y="2695175"/>
            <a:ext cx="2579806" cy="2504208"/>
            <a:chOff x="8329832" y="1865870"/>
            <a:chExt cx="3373394" cy="3274541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6A7E14E-3519-7ECA-CC20-8AA3D23D6B9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41491" y="2428102"/>
              <a:ext cx="2150076" cy="2150076"/>
            </a:xfrm>
            <a:prstGeom prst="rect">
              <a:avLst/>
            </a:prstGeom>
          </p:spPr>
        </p:pic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2E609A17-4E4B-F028-D0D6-4CD58170D5D5}"/>
                </a:ext>
              </a:extLst>
            </p:cNvPr>
            <p:cNvSpPr/>
            <p:nvPr/>
          </p:nvSpPr>
          <p:spPr>
            <a:xfrm>
              <a:off x="8329832" y="1865870"/>
              <a:ext cx="3373394" cy="3274541"/>
            </a:xfrm>
            <a:prstGeom prst="roundRect">
              <a:avLst/>
            </a:prstGeom>
            <a:noFill/>
            <a:ln w="76200">
              <a:solidFill>
                <a:schemeClr val="accent5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 dirty="0"/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6648EEE-06E0-1645-8FC8-D0B4A856BA1B}"/>
              </a:ext>
            </a:extLst>
          </p:cNvPr>
          <p:cNvCxnSpPr>
            <a:cxnSpLocks/>
          </p:cNvCxnSpPr>
          <p:nvPr/>
        </p:nvCxnSpPr>
        <p:spPr>
          <a:xfrm>
            <a:off x="3571102" y="3521312"/>
            <a:ext cx="1303638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11ACA06-66D7-AA98-8916-79EA352DBADA}"/>
              </a:ext>
            </a:extLst>
          </p:cNvPr>
          <p:cNvCxnSpPr>
            <a:cxnSpLocks/>
          </p:cNvCxnSpPr>
          <p:nvPr/>
        </p:nvCxnSpPr>
        <p:spPr>
          <a:xfrm flipH="1">
            <a:off x="3546388" y="4421207"/>
            <a:ext cx="1303638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8299066-5F5B-F0F6-0D42-372B7CFD090E}"/>
              </a:ext>
            </a:extLst>
          </p:cNvPr>
          <p:cNvCxnSpPr>
            <a:cxnSpLocks/>
          </p:cNvCxnSpPr>
          <p:nvPr/>
        </p:nvCxnSpPr>
        <p:spPr>
          <a:xfrm>
            <a:off x="7558910" y="3521312"/>
            <a:ext cx="1303638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9AC46CA-8CE0-D325-EE00-4D50C1708E45}"/>
              </a:ext>
            </a:extLst>
          </p:cNvPr>
          <p:cNvCxnSpPr>
            <a:cxnSpLocks/>
          </p:cNvCxnSpPr>
          <p:nvPr/>
        </p:nvCxnSpPr>
        <p:spPr>
          <a:xfrm flipH="1">
            <a:off x="7534196" y="4421207"/>
            <a:ext cx="1303638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458BD32-23C2-6070-BCBB-DFBF8FEA4A2E}"/>
              </a:ext>
            </a:extLst>
          </p:cNvPr>
          <p:cNvSpPr txBox="1"/>
          <p:nvPr/>
        </p:nvSpPr>
        <p:spPr>
          <a:xfrm>
            <a:off x="524908" y="5358582"/>
            <a:ext cx="3191302" cy="55053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>
              <a:lnSpc>
                <a:spcPct val="70000"/>
              </a:lnSpc>
            </a:pPr>
            <a:endParaRPr lang="en-US" sz="1400" dirty="0">
              <a:solidFill>
                <a:srgbClr val="C00000"/>
              </a:solidFill>
              <a:latin typeface="Berlin Sans FB Demi" panose="020E0802020502020306" pitchFamily="34" charset="0"/>
            </a:endParaRPr>
          </a:p>
          <a:p>
            <a:pPr algn="ctr">
              <a:lnSpc>
                <a:spcPct val="70000"/>
              </a:lnSpc>
            </a:pPr>
            <a:r>
              <a:rPr lang="en-US" sz="2800" dirty="0">
                <a:solidFill>
                  <a:srgbClr val="DD1B16"/>
                </a:solidFill>
                <a:latin typeface="Berlin Sans FB Demi" panose="020E0802020502020306" pitchFamily="34" charset="0"/>
              </a:rPr>
              <a:t>FRONT END</a:t>
            </a:r>
            <a:endParaRPr lang="ar-EG" sz="1400" dirty="0">
              <a:solidFill>
                <a:srgbClr val="DD1B16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5C2BA1-7695-3542-05E5-49569B07727B}"/>
              </a:ext>
            </a:extLst>
          </p:cNvPr>
          <p:cNvSpPr txBox="1"/>
          <p:nvPr/>
        </p:nvSpPr>
        <p:spPr>
          <a:xfrm>
            <a:off x="4608816" y="5358582"/>
            <a:ext cx="3191302" cy="55053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>
              <a:lnSpc>
                <a:spcPct val="70000"/>
              </a:lnSpc>
            </a:pPr>
            <a:endParaRPr lang="en-US" sz="1400" dirty="0">
              <a:solidFill>
                <a:srgbClr val="C00000"/>
              </a:solidFill>
              <a:latin typeface="Berlin Sans FB Demi" panose="020E0802020502020306" pitchFamily="34" charset="0"/>
            </a:endParaRPr>
          </a:p>
          <a:p>
            <a:pPr algn="ctr">
              <a:lnSpc>
                <a:spcPct val="70000"/>
              </a:lnSpc>
            </a:pPr>
            <a:r>
              <a:rPr lang="en-US" sz="2800" dirty="0">
                <a:solidFill>
                  <a:srgbClr val="73B856"/>
                </a:solidFill>
                <a:latin typeface="Berlin Sans FB Demi" panose="020E0802020502020306" pitchFamily="34" charset="0"/>
              </a:rPr>
              <a:t>BACK END</a:t>
            </a:r>
            <a:endParaRPr lang="ar-EG" sz="1400" dirty="0">
              <a:solidFill>
                <a:srgbClr val="73B856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F3F841-98C0-1044-9799-5CFC6CB7B99C}"/>
              </a:ext>
            </a:extLst>
          </p:cNvPr>
          <p:cNvSpPr txBox="1"/>
          <p:nvPr/>
        </p:nvSpPr>
        <p:spPr>
          <a:xfrm>
            <a:off x="8581514" y="5358582"/>
            <a:ext cx="3191302" cy="55053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>
              <a:lnSpc>
                <a:spcPct val="70000"/>
              </a:lnSpc>
            </a:pPr>
            <a:endParaRPr lang="en-US" sz="1400" dirty="0">
              <a:solidFill>
                <a:schemeClr val="accent6">
                  <a:lumMod val="50000"/>
                </a:schemeClr>
              </a:solidFill>
              <a:latin typeface="Berlin Sans FB Demi" panose="020E0802020502020306" pitchFamily="34" charset="0"/>
            </a:endParaRPr>
          </a:p>
          <a:p>
            <a:pPr algn="ctr">
              <a:lnSpc>
                <a:spcPct val="70000"/>
              </a:lnSpc>
            </a:pPr>
            <a:r>
              <a:rPr lang="en-US" sz="2800" dirty="0">
                <a:solidFill>
                  <a:srgbClr val="00684A"/>
                </a:solidFill>
                <a:latin typeface="Berlin Sans FB Demi" panose="020E0802020502020306" pitchFamily="34" charset="0"/>
              </a:rPr>
              <a:t>DATABASE</a:t>
            </a:r>
            <a:endParaRPr lang="ar-EG" sz="1400" dirty="0">
              <a:solidFill>
                <a:srgbClr val="00684A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212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F500F4-479E-CBF6-8600-5AB404F90D39}"/>
              </a:ext>
            </a:extLst>
          </p:cNvPr>
          <p:cNvSpPr txBox="1"/>
          <p:nvPr/>
        </p:nvSpPr>
        <p:spPr>
          <a:xfrm>
            <a:off x="9292281" y="261010"/>
            <a:ext cx="2745956" cy="91428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6000" dirty="0">
                <a:solidFill>
                  <a:schemeClr val="accent5">
                    <a:lumMod val="7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rPr>
              <a:t>MEAN</a:t>
            </a:r>
            <a:endParaRPr lang="en-US" sz="900" dirty="0">
              <a:solidFill>
                <a:schemeClr val="accent5">
                  <a:lumMod val="7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  <a:p>
            <a:pPr algn="ctr">
              <a:lnSpc>
                <a:spcPct val="70000"/>
              </a:lnSpc>
            </a:pPr>
            <a:r>
              <a:rPr lang="en-US" sz="1400" dirty="0">
                <a:solidFill>
                  <a:schemeClr val="accent5">
                    <a:lumMod val="5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rPr>
              <a:t>stack</a:t>
            </a:r>
            <a:endParaRPr lang="ar-EG" sz="900" dirty="0">
              <a:solidFill>
                <a:schemeClr val="accent5">
                  <a:lumMod val="50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149DDB-410B-4E6A-921F-2325CD6C7E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08383" y="909512"/>
            <a:ext cx="3111152" cy="31111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F8BCD89-A8EA-8B73-DBC0-F6C5E6EABFB6}"/>
              </a:ext>
            </a:extLst>
          </p:cNvPr>
          <p:cNvSpPr txBox="1"/>
          <p:nvPr/>
        </p:nvSpPr>
        <p:spPr>
          <a:xfrm>
            <a:off x="1361994" y="3731741"/>
            <a:ext cx="10203930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3200" b="1" i="0" dirty="0">
                <a:solidFill>
                  <a:srgbClr val="1F1F1F"/>
                </a:solidFill>
                <a:effectLst/>
                <a:latin typeface="Google Sans"/>
              </a:rPr>
              <a:t>MongoDB</a:t>
            </a:r>
            <a:r>
              <a:rPr lang="en-US" sz="3200" b="0" i="0" dirty="0">
                <a:solidFill>
                  <a:srgbClr val="1F1F1F"/>
                </a:solidFill>
                <a:effectLst/>
                <a:latin typeface="Google Sans"/>
              </a:rPr>
              <a:t> is a popular open-source, </a:t>
            </a:r>
            <a:r>
              <a:rPr lang="en-US" sz="3200" b="1" i="0" dirty="0">
                <a:solidFill>
                  <a:srgbClr val="1F1F1F"/>
                </a:solidFill>
                <a:effectLst/>
                <a:latin typeface="Google Sans"/>
              </a:rPr>
              <a:t>NoSQL</a:t>
            </a:r>
            <a:r>
              <a:rPr lang="en-US" sz="3200" b="0" i="0" dirty="0">
                <a:solidFill>
                  <a:srgbClr val="1F1F1F"/>
                </a:solidFill>
                <a:effectLst/>
                <a:latin typeface="Google Sans"/>
              </a:rPr>
              <a:t> database. It makes a good choice for applications with evolving data structures and complex data relationships.</a:t>
            </a:r>
            <a:endParaRPr lang="en-US" sz="3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22536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F500F4-479E-CBF6-8600-5AB404F90D39}"/>
              </a:ext>
            </a:extLst>
          </p:cNvPr>
          <p:cNvSpPr txBox="1"/>
          <p:nvPr/>
        </p:nvSpPr>
        <p:spPr>
          <a:xfrm>
            <a:off x="9292281" y="261010"/>
            <a:ext cx="2745956" cy="91428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6000" dirty="0">
                <a:solidFill>
                  <a:schemeClr val="accent5">
                    <a:lumMod val="7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rPr>
              <a:t>MEAN</a:t>
            </a:r>
            <a:endParaRPr lang="en-US" sz="900" dirty="0">
              <a:solidFill>
                <a:schemeClr val="accent5">
                  <a:lumMod val="7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  <a:p>
            <a:pPr algn="ctr">
              <a:lnSpc>
                <a:spcPct val="70000"/>
              </a:lnSpc>
            </a:pPr>
            <a:r>
              <a:rPr lang="en-US" sz="1400" dirty="0">
                <a:solidFill>
                  <a:schemeClr val="accent5">
                    <a:lumMod val="5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rPr>
              <a:t>stack</a:t>
            </a:r>
            <a:endParaRPr lang="ar-EG" sz="900" dirty="0">
              <a:solidFill>
                <a:schemeClr val="accent5">
                  <a:lumMod val="50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149DDB-410B-4E6A-921F-2325CD6C7E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74999" y="1805416"/>
            <a:ext cx="5977920" cy="13193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F8BCD89-A8EA-8B73-DBC0-F6C5E6EABFB6}"/>
              </a:ext>
            </a:extLst>
          </p:cNvPr>
          <p:cNvSpPr txBox="1"/>
          <p:nvPr/>
        </p:nvSpPr>
        <p:spPr>
          <a:xfrm>
            <a:off x="605481" y="3731741"/>
            <a:ext cx="11096368" cy="10772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3200" b="1" i="0" dirty="0">
                <a:solidFill>
                  <a:srgbClr val="1F1F1F"/>
                </a:solidFill>
                <a:effectLst/>
                <a:latin typeface="Google Sans"/>
              </a:rPr>
              <a:t>Express.js</a:t>
            </a:r>
            <a:r>
              <a:rPr lang="en-US" sz="3200" b="0" i="0" dirty="0">
                <a:solidFill>
                  <a:srgbClr val="1F1F1F"/>
                </a:solidFill>
                <a:effectLst/>
                <a:latin typeface="Google Sans"/>
              </a:rPr>
              <a:t> is a flexible and minimalist web framework for </a:t>
            </a:r>
            <a:r>
              <a:rPr lang="en-US" sz="3200" b="1" i="0" dirty="0">
                <a:solidFill>
                  <a:srgbClr val="1F1F1F"/>
                </a:solidFill>
                <a:effectLst/>
                <a:latin typeface="Google Sans"/>
              </a:rPr>
              <a:t>Node.js </a:t>
            </a:r>
            <a:r>
              <a:rPr lang="en-US" sz="3200" b="0" i="0" dirty="0">
                <a:solidFill>
                  <a:srgbClr val="1F1F1F"/>
                </a:solidFill>
                <a:effectLst/>
                <a:latin typeface="Google Sans"/>
              </a:rPr>
              <a:t>that helps you build </a:t>
            </a:r>
            <a:r>
              <a:rPr lang="en-US" sz="3200" b="1" i="0" dirty="0">
                <a:solidFill>
                  <a:srgbClr val="1F1F1F"/>
                </a:solidFill>
                <a:effectLst/>
                <a:latin typeface="Google Sans"/>
              </a:rPr>
              <a:t>web applications</a:t>
            </a:r>
            <a:r>
              <a:rPr lang="en-US" sz="3200" b="0" i="0" dirty="0">
                <a:solidFill>
                  <a:srgbClr val="1F1F1F"/>
                </a:solidFill>
                <a:effectLst/>
                <a:latin typeface="Google Sans"/>
              </a:rPr>
              <a:t> and </a:t>
            </a:r>
            <a:r>
              <a:rPr lang="en-US" sz="3200" b="1" i="0" dirty="0">
                <a:solidFill>
                  <a:srgbClr val="1F1F1F"/>
                </a:solidFill>
                <a:effectLst/>
                <a:latin typeface="Google Sans"/>
              </a:rPr>
              <a:t>APIs</a:t>
            </a:r>
            <a:r>
              <a:rPr lang="en-US" sz="3200" b="0" i="0" dirty="0">
                <a:solidFill>
                  <a:srgbClr val="1F1F1F"/>
                </a:solidFill>
                <a:effectLst/>
                <a:latin typeface="Google Sans"/>
              </a:rPr>
              <a:t> efficiently.</a:t>
            </a:r>
            <a:endParaRPr lang="en-US" sz="3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59240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F500F4-479E-CBF6-8600-5AB404F90D39}"/>
              </a:ext>
            </a:extLst>
          </p:cNvPr>
          <p:cNvSpPr txBox="1"/>
          <p:nvPr/>
        </p:nvSpPr>
        <p:spPr>
          <a:xfrm>
            <a:off x="9292281" y="261010"/>
            <a:ext cx="2745956" cy="91428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6000" dirty="0">
                <a:solidFill>
                  <a:schemeClr val="accent5">
                    <a:lumMod val="7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rPr>
              <a:t>MEAN</a:t>
            </a:r>
            <a:endParaRPr lang="en-US" sz="900" dirty="0">
              <a:solidFill>
                <a:schemeClr val="accent5">
                  <a:lumMod val="7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  <a:p>
            <a:pPr algn="ctr">
              <a:lnSpc>
                <a:spcPct val="70000"/>
              </a:lnSpc>
            </a:pPr>
            <a:r>
              <a:rPr lang="en-US" sz="1400" dirty="0">
                <a:solidFill>
                  <a:schemeClr val="accent5">
                    <a:lumMod val="5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rPr>
              <a:t>stack</a:t>
            </a:r>
            <a:endParaRPr lang="ar-EG" sz="900" dirty="0">
              <a:solidFill>
                <a:schemeClr val="accent5">
                  <a:lumMod val="50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149DDB-410B-4E6A-921F-2325CD6C7E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43161" y="1090145"/>
            <a:ext cx="2641596" cy="26415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F8BCD89-A8EA-8B73-DBC0-F6C5E6EABFB6}"/>
              </a:ext>
            </a:extLst>
          </p:cNvPr>
          <p:cNvSpPr txBox="1"/>
          <p:nvPr/>
        </p:nvSpPr>
        <p:spPr>
          <a:xfrm>
            <a:off x="1361994" y="3731741"/>
            <a:ext cx="9450168" cy="206210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3200" b="1" i="0" dirty="0">
                <a:solidFill>
                  <a:srgbClr val="1F1F1F"/>
                </a:solidFill>
                <a:effectLst/>
                <a:latin typeface="Google Sans"/>
              </a:rPr>
              <a:t>Angular</a:t>
            </a:r>
            <a:r>
              <a:rPr lang="en-US" sz="3200" b="0" i="0" dirty="0">
                <a:solidFill>
                  <a:srgbClr val="1F1F1F"/>
                </a:solidFill>
                <a:effectLst/>
                <a:latin typeface="Google Sans"/>
              </a:rPr>
              <a:t> is a development </a:t>
            </a:r>
            <a:r>
              <a:rPr lang="en-US" sz="3200" b="1" i="0" dirty="0">
                <a:solidFill>
                  <a:srgbClr val="1F1F1F"/>
                </a:solidFill>
                <a:effectLst/>
                <a:latin typeface="Google Sans"/>
              </a:rPr>
              <a:t>framework</a:t>
            </a:r>
            <a:r>
              <a:rPr lang="en-US" sz="3200" b="0" i="0" dirty="0">
                <a:solidFill>
                  <a:srgbClr val="1F1F1F"/>
                </a:solidFill>
                <a:effectLst/>
                <a:latin typeface="Google Sans"/>
              </a:rPr>
              <a:t> used for building single-page applications (</a:t>
            </a:r>
            <a:r>
              <a:rPr lang="en-US" sz="3200" b="1" i="0" dirty="0">
                <a:solidFill>
                  <a:srgbClr val="1F1F1F"/>
                </a:solidFill>
                <a:effectLst/>
                <a:latin typeface="Google Sans"/>
              </a:rPr>
              <a:t>SPAs</a:t>
            </a:r>
            <a:r>
              <a:rPr lang="en-US" sz="3200" b="0" i="0" dirty="0">
                <a:solidFill>
                  <a:srgbClr val="1F1F1F"/>
                </a:solidFill>
                <a:effectLst/>
                <a:latin typeface="Google Sans"/>
              </a:rPr>
              <a:t>) using HTML and </a:t>
            </a:r>
            <a:r>
              <a:rPr lang="en-US" sz="3200" b="1" i="0" dirty="0">
                <a:solidFill>
                  <a:srgbClr val="1F1F1F"/>
                </a:solidFill>
                <a:effectLst/>
                <a:latin typeface="Google Sans"/>
              </a:rPr>
              <a:t>TypeScript</a:t>
            </a:r>
            <a:r>
              <a:rPr lang="en-US" sz="3200" b="0" i="0" dirty="0">
                <a:solidFill>
                  <a:srgbClr val="1F1F1F"/>
                </a:solidFill>
                <a:effectLst/>
                <a:latin typeface="Google Sans"/>
              </a:rPr>
              <a:t>. It's a popular choice for web developers due to its robust features, scalability.</a:t>
            </a:r>
            <a:endParaRPr lang="en-US" sz="3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26481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F500F4-479E-CBF6-8600-5AB404F90D39}"/>
              </a:ext>
            </a:extLst>
          </p:cNvPr>
          <p:cNvSpPr txBox="1"/>
          <p:nvPr/>
        </p:nvSpPr>
        <p:spPr>
          <a:xfrm>
            <a:off x="9292281" y="261010"/>
            <a:ext cx="2745956" cy="91428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6000" dirty="0">
                <a:solidFill>
                  <a:schemeClr val="accent5">
                    <a:lumMod val="7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rPr>
              <a:t>MEAN</a:t>
            </a:r>
            <a:endParaRPr lang="en-US" sz="900" dirty="0">
              <a:solidFill>
                <a:schemeClr val="accent5">
                  <a:lumMod val="7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  <a:p>
            <a:pPr algn="ctr">
              <a:lnSpc>
                <a:spcPct val="70000"/>
              </a:lnSpc>
            </a:pPr>
            <a:r>
              <a:rPr lang="en-US" sz="1400" dirty="0">
                <a:solidFill>
                  <a:schemeClr val="accent5">
                    <a:lumMod val="5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rPr>
              <a:t>stack</a:t>
            </a:r>
            <a:endParaRPr lang="ar-EG" sz="900" dirty="0">
              <a:solidFill>
                <a:schemeClr val="accent5">
                  <a:lumMod val="50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149DDB-410B-4E6A-921F-2325CD6C7E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692" y="1462095"/>
            <a:ext cx="4544534" cy="200598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F8BCD89-A8EA-8B73-DBC0-F6C5E6EABFB6}"/>
              </a:ext>
            </a:extLst>
          </p:cNvPr>
          <p:cNvSpPr txBox="1"/>
          <p:nvPr/>
        </p:nvSpPr>
        <p:spPr>
          <a:xfrm>
            <a:off x="1361994" y="3731741"/>
            <a:ext cx="10203930" cy="206210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3200" b="1" dirty="0">
                <a:effectLst/>
              </a:rPr>
              <a:t>Node.js</a:t>
            </a:r>
            <a:r>
              <a:rPr lang="en-US" sz="3200" b="0" dirty="0">
                <a:effectLst/>
              </a:rPr>
              <a:t> is a powerful JavaScript </a:t>
            </a:r>
            <a:r>
              <a:rPr lang="en-US" sz="3200" b="1" dirty="0">
                <a:effectLst/>
              </a:rPr>
              <a:t>runtime</a:t>
            </a:r>
            <a:r>
              <a:rPr lang="en-US" sz="3200" b="0" dirty="0">
                <a:effectLst/>
              </a:rPr>
              <a:t> environment that allows you to run JavaScript code </a:t>
            </a:r>
            <a:r>
              <a:rPr lang="en-US" sz="3200" b="1" dirty="0">
                <a:effectLst/>
              </a:rPr>
              <a:t>outside</a:t>
            </a:r>
            <a:r>
              <a:rPr lang="en-US" sz="3200" b="0" dirty="0">
                <a:effectLst/>
              </a:rPr>
              <a:t> of a web browser.</a:t>
            </a:r>
          </a:p>
          <a:p>
            <a:pPr algn="ctr"/>
            <a:endParaRPr lang="en-US" sz="3200" dirty="0"/>
          </a:p>
          <a:p>
            <a:pPr algn="ctr"/>
            <a:r>
              <a:rPr lang="en-US" sz="3200" dirty="0">
                <a:effectLst/>
              </a:rPr>
              <a:t>Also is a JS cross-platform framework</a:t>
            </a:r>
          </a:p>
        </p:txBody>
      </p:sp>
    </p:spTree>
    <p:extLst>
      <p:ext uri="{BB962C8B-B14F-4D97-AF65-F5344CB8AC3E}">
        <p14:creationId xmlns:p14="http://schemas.microsoft.com/office/powerpoint/2010/main" val="1506374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149DDB-410B-4E6A-921F-2325CD6C7E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3077" y="24714"/>
            <a:ext cx="2677936" cy="11820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3AB559-44E4-18DA-5B91-3309FA1FD67B}"/>
              </a:ext>
            </a:extLst>
          </p:cNvPr>
          <p:cNvSpPr txBox="1"/>
          <p:nvPr/>
        </p:nvSpPr>
        <p:spPr>
          <a:xfrm>
            <a:off x="534090" y="1858829"/>
            <a:ext cx="10895910" cy="35394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b="1" dirty="0"/>
              <a:t>Node.js framework dependencies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ECMA-script :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is the standardized scripting language that serves as the foundation for </a:t>
            </a:r>
            <a:r>
              <a:rPr lang="en-US" sz="2800" b="1" dirty="0"/>
              <a:t>JavaScript</a:t>
            </a:r>
            <a:r>
              <a:rPr lang="en-US" sz="2800" dirty="0"/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 err="1"/>
              <a:t>CommonJS</a:t>
            </a:r>
            <a:r>
              <a:rPr lang="en-US" sz="2800" b="1" dirty="0"/>
              <a:t> :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is a </a:t>
            </a:r>
            <a:r>
              <a:rPr lang="en-US" sz="2800" b="1" dirty="0"/>
              <a:t>module system</a:t>
            </a:r>
            <a:r>
              <a:rPr lang="en-US" sz="2800" dirty="0"/>
              <a:t> used in </a:t>
            </a:r>
            <a:r>
              <a:rPr lang="en-US" sz="2800" b="1" dirty="0"/>
              <a:t>Node.js</a:t>
            </a:r>
            <a:r>
              <a:rPr lang="en-US" sz="2800" dirty="0"/>
              <a:t> to manage code organization and reusability. It defines how modules are </a:t>
            </a:r>
            <a:r>
              <a:rPr lang="en-US" sz="2800" b="1" dirty="0"/>
              <a:t>structured, exported, and imported</a:t>
            </a:r>
            <a:r>
              <a:rPr lang="en-US" sz="2800" dirty="0"/>
              <a:t> in a JavaScript application.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930038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51B78-37E7-58D5-5CDA-31E6720A1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08C204-75AA-D2F3-0E2A-EDA146DC40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3077" y="24714"/>
            <a:ext cx="2677936" cy="11820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28A04B-4032-C728-E8AF-1A65E50DBF9B}"/>
              </a:ext>
            </a:extLst>
          </p:cNvPr>
          <p:cNvSpPr txBox="1"/>
          <p:nvPr/>
        </p:nvSpPr>
        <p:spPr>
          <a:xfrm>
            <a:off x="534090" y="1378183"/>
            <a:ext cx="10895910" cy="526297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b="1" dirty="0"/>
              <a:t>Node.js framework dependencies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V8</a:t>
            </a:r>
            <a:r>
              <a:rPr lang="en-US" sz="2800" dirty="0"/>
              <a:t> </a:t>
            </a:r>
            <a:r>
              <a:rPr lang="en-US" sz="2800" b="1" dirty="0"/>
              <a:t>engine</a:t>
            </a:r>
            <a:r>
              <a:rPr lang="en-US" sz="2800" dirty="0"/>
              <a:t>:</a:t>
            </a:r>
          </a:p>
          <a:p>
            <a:pPr marL="1371600" lvl="2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is an open-source, high-performance JavaScript and Web Assembly engine.</a:t>
            </a:r>
          </a:p>
          <a:p>
            <a:pPr marL="1371600" lvl="2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Developed by Google, it was originally created to power Google Chrome.</a:t>
            </a:r>
          </a:p>
          <a:p>
            <a:pPr marL="1371600" lvl="2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Node.js uses V8 to execute JavaScript outside the browser, on the server.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b="1" dirty="0" err="1"/>
              <a:t>LibUV</a:t>
            </a:r>
            <a:r>
              <a:rPr lang="en-US" sz="2800" b="1" dirty="0"/>
              <a:t> :</a:t>
            </a:r>
          </a:p>
          <a:p>
            <a:pPr marL="1371600" lvl="2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is a </a:t>
            </a:r>
            <a:r>
              <a:rPr lang="en-US" sz="2800" b="1" dirty="0"/>
              <a:t>C-based library</a:t>
            </a:r>
            <a:r>
              <a:rPr lang="en-US" sz="2800" dirty="0"/>
              <a:t> that provides </a:t>
            </a:r>
            <a:r>
              <a:rPr lang="en-US" sz="2800" b="1" dirty="0"/>
              <a:t>asynchronous I/O capabilities</a:t>
            </a:r>
            <a:r>
              <a:rPr lang="en-US" sz="2800" dirty="0"/>
              <a:t> to </a:t>
            </a:r>
            <a:r>
              <a:rPr lang="en-US" sz="2800" b="1" dirty="0"/>
              <a:t>Node.js</a:t>
            </a:r>
            <a:r>
              <a:rPr lang="en-US" sz="2800" dirty="0"/>
              <a:t>. It's one of the </a:t>
            </a:r>
            <a:r>
              <a:rPr lang="en-US" sz="2800" i="1" dirty="0"/>
              <a:t>core engines</a:t>
            </a:r>
            <a:r>
              <a:rPr lang="en-US" sz="2800" dirty="0"/>
              <a:t> that makes Node.js </a:t>
            </a:r>
            <a:r>
              <a:rPr lang="en-US" sz="2800" b="1" dirty="0"/>
              <a:t>non-blocking and event-driven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21318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25165-CF33-A2EA-EE33-FD7A227A8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B820BF-A5EB-BD52-35D8-BF52A896E5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3077" y="24714"/>
            <a:ext cx="2677936" cy="11820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B2AE9E-5090-781F-F361-A6A9AA001629}"/>
              </a:ext>
            </a:extLst>
          </p:cNvPr>
          <p:cNvSpPr txBox="1"/>
          <p:nvPr/>
        </p:nvSpPr>
        <p:spPr>
          <a:xfrm>
            <a:off x="534090" y="1378183"/>
            <a:ext cx="10895910" cy="39703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b="1" dirty="0"/>
              <a:t>Node.js framework dependencies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NPM </a:t>
            </a:r>
            <a:r>
              <a:rPr lang="en-US" sz="2800" dirty="0"/>
              <a:t>:</a:t>
            </a:r>
          </a:p>
          <a:p>
            <a:pPr marL="1371600" lvl="2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Stands for </a:t>
            </a:r>
            <a:r>
              <a:rPr lang="en-US" sz="2800" b="1" dirty="0"/>
              <a:t>N</a:t>
            </a:r>
            <a:r>
              <a:rPr lang="en-US" sz="2800" dirty="0"/>
              <a:t>ode </a:t>
            </a:r>
            <a:r>
              <a:rPr lang="en-US" sz="2800" b="1" dirty="0"/>
              <a:t>P</a:t>
            </a:r>
            <a:r>
              <a:rPr lang="en-US" sz="2800" dirty="0"/>
              <a:t>ackage </a:t>
            </a:r>
            <a:r>
              <a:rPr lang="en-US" sz="2800" b="1" dirty="0"/>
              <a:t>M</a:t>
            </a:r>
            <a:r>
              <a:rPr lang="en-US" sz="2800" dirty="0"/>
              <a:t>anager.</a:t>
            </a:r>
          </a:p>
          <a:p>
            <a:pPr marL="1371600" lvl="2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A massive online repository of open-source JavaScript packages and modules.</a:t>
            </a:r>
          </a:p>
          <a:p>
            <a:pPr marL="1371600" lvl="2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Offers thousands of pre-written code libraries and tools for various purposes.</a:t>
            </a:r>
          </a:p>
          <a:p>
            <a:pPr marL="1371600" lvl="2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Simplifies code reuse, dependency management, and project development.</a:t>
            </a:r>
          </a:p>
        </p:txBody>
      </p:sp>
    </p:spTree>
    <p:extLst>
      <p:ext uri="{BB962C8B-B14F-4D97-AF65-F5344CB8AC3E}">
        <p14:creationId xmlns:p14="http://schemas.microsoft.com/office/powerpoint/2010/main" val="634125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149DDB-410B-4E6A-921F-2325CD6C7E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3077" y="24714"/>
            <a:ext cx="2677936" cy="11820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3AB559-44E4-18DA-5B91-3309FA1FD67B}"/>
              </a:ext>
            </a:extLst>
          </p:cNvPr>
          <p:cNvSpPr txBox="1"/>
          <p:nvPr/>
        </p:nvSpPr>
        <p:spPr>
          <a:xfrm>
            <a:off x="880080" y="1342696"/>
            <a:ext cx="10203930" cy="437472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2400" b="0" i="0" dirty="0">
                <a:solidFill>
                  <a:srgbClr val="1F1F1F"/>
                </a:solidFill>
                <a:effectLst/>
                <a:latin typeface="Google Sans"/>
              </a:rPr>
              <a:t>It's widely used for building:</a:t>
            </a:r>
          </a:p>
          <a:p>
            <a:pPr marL="630238" lvl="1" indent="173038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F1F1F"/>
                </a:solidFill>
                <a:latin typeface="Google Sans"/>
              </a:rPr>
              <a:t>Web applications</a:t>
            </a:r>
            <a:r>
              <a:rPr lang="en-US" sz="2400" dirty="0">
                <a:solidFill>
                  <a:srgbClr val="1F1F1F"/>
                </a:solidFill>
                <a:latin typeface="Google Sans"/>
              </a:rPr>
              <a:t>: </a:t>
            </a:r>
            <a:r>
              <a:rPr lang="en-US" sz="2400" b="1" dirty="0">
                <a:solidFill>
                  <a:srgbClr val="1F1F1F"/>
                </a:solidFill>
                <a:latin typeface="Google Sans"/>
              </a:rPr>
              <a:t>server-side</a:t>
            </a:r>
            <a:r>
              <a:rPr lang="en-US" sz="2400" dirty="0">
                <a:solidFill>
                  <a:srgbClr val="1F1F1F"/>
                </a:solidFill>
                <a:latin typeface="Google Sans"/>
              </a:rPr>
              <a:t> logic, </a:t>
            </a:r>
            <a:r>
              <a:rPr lang="en-US" sz="2400" b="1" dirty="0">
                <a:solidFill>
                  <a:srgbClr val="1F1F1F"/>
                </a:solidFill>
                <a:latin typeface="Google Sans"/>
              </a:rPr>
              <a:t>RESTful</a:t>
            </a:r>
            <a:r>
              <a:rPr lang="en-US" sz="2400" dirty="0">
                <a:solidFill>
                  <a:srgbClr val="1F1F1F"/>
                </a:solidFill>
                <a:latin typeface="Google Sans"/>
              </a:rPr>
              <a:t> APIs</a:t>
            </a:r>
          </a:p>
          <a:p>
            <a:pPr marL="630238" lvl="1" indent="173038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F1F1F"/>
                </a:solidFill>
                <a:latin typeface="Google Sans"/>
              </a:rPr>
              <a:t>Real-time applications</a:t>
            </a:r>
            <a:r>
              <a:rPr lang="en-US" sz="2400" dirty="0">
                <a:solidFill>
                  <a:srgbClr val="1F1F1F"/>
                </a:solidFill>
                <a:latin typeface="Google Sans"/>
              </a:rPr>
              <a:t>: chat apps, live dashboards, collaboration tools</a:t>
            </a:r>
          </a:p>
          <a:p>
            <a:pPr marL="630238" lvl="1" indent="173038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F1F1F"/>
                </a:solidFill>
                <a:latin typeface="Google Sans"/>
              </a:rPr>
              <a:t>Data streaming services</a:t>
            </a:r>
            <a:r>
              <a:rPr lang="en-US" sz="2400" dirty="0">
                <a:solidFill>
                  <a:srgbClr val="1F1F1F"/>
                </a:solidFill>
                <a:latin typeface="Google Sans"/>
              </a:rPr>
              <a:t>: video/audio streaming, file transfer</a:t>
            </a:r>
          </a:p>
          <a:p>
            <a:pPr marL="630238" lvl="1" indent="173038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F1F1F"/>
                </a:solidFill>
                <a:latin typeface="Google Sans"/>
              </a:rPr>
              <a:t>Command-line tools and automation scripts</a:t>
            </a:r>
            <a:r>
              <a:rPr lang="en-US" sz="2400" dirty="0">
                <a:solidFill>
                  <a:srgbClr val="1F1F1F"/>
                </a:solidFill>
                <a:latin typeface="Google Sans"/>
              </a:rPr>
              <a:t>: build tools, task runners, testing frameworks</a:t>
            </a:r>
          </a:p>
          <a:p>
            <a:pPr marL="630238" lvl="1" indent="173038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F1F1F"/>
                </a:solidFill>
                <a:latin typeface="Google Sans"/>
              </a:rPr>
              <a:t>Microservices architecture</a:t>
            </a:r>
            <a:r>
              <a:rPr lang="en-US" sz="2400" dirty="0">
                <a:solidFill>
                  <a:srgbClr val="1F1F1F"/>
                </a:solidFill>
                <a:latin typeface="Google Sans"/>
              </a:rPr>
              <a:t>: building scalable, modular applications</a:t>
            </a:r>
          </a:p>
          <a:p>
            <a:pPr marL="630238" lvl="1" indent="173038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F1F1F"/>
                </a:solidFill>
                <a:latin typeface="Google Sans"/>
              </a:rPr>
              <a:t>IoT (Internet of Things)</a:t>
            </a:r>
            <a:r>
              <a:rPr lang="en-US" sz="2400" dirty="0">
                <a:solidFill>
                  <a:srgbClr val="1F1F1F"/>
                </a:solidFill>
                <a:latin typeface="Google Sans"/>
              </a:rPr>
              <a:t>: device communication and data processing</a:t>
            </a:r>
          </a:p>
          <a:p>
            <a:pPr marL="111125" indent="284163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1F1F1F"/>
              </a:solidFill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837421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149DDB-410B-4E6A-921F-2325CD6C7E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3077" y="24714"/>
            <a:ext cx="2677936" cy="118205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FCB928B-B1F4-0F67-320A-7D8B3FD09366}"/>
              </a:ext>
            </a:extLst>
          </p:cNvPr>
          <p:cNvSpPr txBox="1"/>
          <p:nvPr/>
        </p:nvSpPr>
        <p:spPr>
          <a:xfrm>
            <a:off x="950419" y="1681758"/>
            <a:ext cx="11007120" cy="349448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2800" b="1" i="0" dirty="0">
                <a:solidFill>
                  <a:srgbClr val="1F1F1F"/>
                </a:solidFill>
                <a:effectLst/>
                <a:latin typeface="Google Sans"/>
              </a:rPr>
              <a:t>Key features:</a:t>
            </a:r>
          </a:p>
          <a:p>
            <a:pPr marL="111125" indent="284163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F1F1F"/>
                </a:solidFill>
                <a:latin typeface="Google Sans"/>
              </a:rPr>
              <a:t>JavaScript on the server: </a:t>
            </a:r>
            <a:r>
              <a:rPr lang="en-US" sz="2400" dirty="0">
                <a:solidFill>
                  <a:srgbClr val="1F1F1F"/>
                </a:solidFill>
                <a:latin typeface="Google Sans"/>
              </a:rPr>
              <a:t>Use the same language for frontend and backend</a:t>
            </a:r>
          </a:p>
          <a:p>
            <a:pPr marL="111125" indent="284163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F1F1F"/>
                </a:solidFill>
                <a:latin typeface="Google Sans"/>
              </a:rPr>
              <a:t>Event-driven, non-blocking I/O: </a:t>
            </a:r>
            <a:r>
              <a:rPr lang="en-US" sz="2400" dirty="0">
                <a:solidFill>
                  <a:srgbClr val="1F1F1F"/>
                </a:solidFill>
                <a:latin typeface="Google Sans"/>
              </a:rPr>
              <a:t>Efficiently handles many concurrent connections</a:t>
            </a:r>
          </a:p>
          <a:p>
            <a:pPr marL="111125" indent="284163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F1F1F"/>
                </a:solidFill>
                <a:latin typeface="Google Sans"/>
              </a:rPr>
              <a:t>Asynchronous programming: </a:t>
            </a:r>
            <a:r>
              <a:rPr lang="en-US" sz="2400" dirty="0">
                <a:solidFill>
                  <a:srgbClr val="1F1F1F"/>
                </a:solidFill>
                <a:latin typeface="Google Sans"/>
              </a:rPr>
              <a:t>Keeps apps responsive with non-blocking I/O operations</a:t>
            </a:r>
          </a:p>
          <a:p>
            <a:pPr marL="111125" indent="284163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1F1F1F"/>
                </a:solidFill>
                <a:latin typeface="Google Sans"/>
              </a:rPr>
              <a:t>npm</a:t>
            </a:r>
            <a:r>
              <a:rPr lang="en-US" sz="2400" b="1" dirty="0">
                <a:solidFill>
                  <a:srgbClr val="1F1F1F"/>
                </a:solidFill>
                <a:latin typeface="Google Sans"/>
              </a:rPr>
              <a:t> (Node Package Manager): </a:t>
            </a:r>
            <a:r>
              <a:rPr lang="en-US" sz="2400" dirty="0">
                <a:solidFill>
                  <a:srgbClr val="1F1F1F"/>
                </a:solidFill>
                <a:latin typeface="Google Sans"/>
              </a:rPr>
              <a:t>Access a massive ecosystem of reusable packages</a:t>
            </a:r>
          </a:p>
          <a:p>
            <a:pPr marL="111125" indent="284163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F1F1F"/>
                </a:solidFill>
                <a:latin typeface="Google Sans"/>
              </a:rPr>
              <a:t>Cross-platform compatibility: </a:t>
            </a:r>
            <a:r>
              <a:rPr lang="en-US" sz="2400" dirty="0">
                <a:solidFill>
                  <a:srgbClr val="1F1F1F"/>
                </a:solidFill>
                <a:latin typeface="Google Sans"/>
              </a:rPr>
              <a:t>Runs on Windows, macOS, Linux, and more</a:t>
            </a:r>
          </a:p>
        </p:txBody>
      </p:sp>
    </p:spTree>
    <p:extLst>
      <p:ext uri="{BB962C8B-B14F-4D97-AF65-F5344CB8AC3E}">
        <p14:creationId xmlns:p14="http://schemas.microsoft.com/office/powerpoint/2010/main" val="772794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9B89B4-5D07-E455-76C3-8DBB807583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642" y="3142313"/>
            <a:ext cx="4900916" cy="303312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3CF7DB5-892E-8D7A-5993-57226469B5A8}"/>
              </a:ext>
            </a:extLst>
          </p:cNvPr>
          <p:cNvSpPr txBox="1"/>
          <p:nvPr/>
        </p:nvSpPr>
        <p:spPr>
          <a:xfrm>
            <a:off x="225726" y="4021386"/>
            <a:ext cx="5643573" cy="65609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3600" dirty="0">
                <a:solidFill>
                  <a:srgbClr val="C00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rPr>
              <a:t>Thank you</a:t>
            </a:r>
            <a:endParaRPr lang="en-US" sz="400" dirty="0">
              <a:solidFill>
                <a:srgbClr val="C00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  <a:p>
            <a:pPr algn="ctr">
              <a:lnSpc>
                <a:spcPct val="70000"/>
              </a:lnSpc>
            </a:pPr>
            <a:endParaRPr lang="ar-EG" sz="400" dirty="0">
              <a:solidFill>
                <a:srgbClr val="FF0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F703B7-6DEC-4C0E-6573-F514B6B0D3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0476" y="2509310"/>
            <a:ext cx="6523036" cy="43486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8252289-C73B-0140-5C34-88A0B40758D4}"/>
              </a:ext>
            </a:extLst>
          </p:cNvPr>
          <p:cNvSpPr txBox="1"/>
          <p:nvPr/>
        </p:nvSpPr>
        <p:spPr>
          <a:xfrm>
            <a:off x="306699" y="4400467"/>
            <a:ext cx="5562600" cy="116339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>
              <a:lnSpc>
                <a:spcPct val="80000"/>
              </a:lnSpc>
            </a:pPr>
            <a:endParaRPr lang="en-US" sz="1100" dirty="0">
              <a:solidFill>
                <a:schemeClr val="accent5">
                  <a:lumMod val="7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  <a:p>
            <a:pPr algn="ctr">
              <a:lnSpc>
                <a:spcPct val="80000"/>
              </a:lnSpc>
            </a:pPr>
            <a:r>
              <a:rPr lang="en-US" sz="2800" dirty="0">
                <a:solidFill>
                  <a:schemeClr val="accent5">
                    <a:lumMod val="5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rPr>
              <a:t>Eng.</a:t>
            </a:r>
          </a:p>
          <a:p>
            <a:pPr algn="ctr">
              <a:lnSpc>
                <a:spcPct val="80000"/>
              </a:lnSpc>
            </a:pPr>
            <a:r>
              <a:rPr lang="en-US" sz="4800" dirty="0" err="1">
                <a:solidFill>
                  <a:schemeClr val="accent5">
                    <a:lumMod val="7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rPr>
              <a:t>Ramy</a:t>
            </a:r>
            <a:r>
              <a:rPr lang="en-US" sz="4800" dirty="0">
                <a:solidFill>
                  <a:schemeClr val="accent5">
                    <a:lumMod val="7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rPr>
              <a:t> Kamal</a:t>
            </a:r>
            <a:endParaRPr lang="ar-EG" sz="1100" dirty="0">
              <a:solidFill>
                <a:schemeClr val="accent5">
                  <a:lumMod val="50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2D4C9-4FFC-D630-EDEA-A9EF26AA88F1}"/>
              </a:ext>
            </a:extLst>
          </p:cNvPr>
          <p:cNvSpPr txBox="1"/>
          <p:nvPr/>
        </p:nvSpPr>
        <p:spPr>
          <a:xfrm>
            <a:off x="3399149" y="381336"/>
            <a:ext cx="4940300" cy="177022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11500" dirty="0">
                <a:solidFill>
                  <a:schemeClr val="accent5">
                    <a:lumMod val="7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rPr>
              <a:t>MEAN</a:t>
            </a:r>
            <a:endParaRPr lang="en-US" sz="1600" dirty="0">
              <a:solidFill>
                <a:schemeClr val="accent5">
                  <a:lumMod val="7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  <a:p>
            <a:pPr algn="ctr">
              <a:lnSpc>
                <a:spcPct val="70000"/>
              </a:lnSpc>
            </a:pPr>
            <a:r>
              <a:rPr lang="en-US" sz="4000" dirty="0">
                <a:solidFill>
                  <a:schemeClr val="accent5">
                    <a:lumMod val="5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rPr>
              <a:t>stack</a:t>
            </a:r>
            <a:endParaRPr lang="ar-EG" sz="1600" dirty="0">
              <a:solidFill>
                <a:schemeClr val="accent5">
                  <a:lumMod val="50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63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838</TotalTime>
  <Words>457</Words>
  <Application>Microsoft Office PowerPoint</Application>
  <PresentationFormat>Widescreen</PresentationFormat>
  <Paragraphs>63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Berlin Sans FB Demi</vt:lpstr>
      <vt:lpstr>Calibri</vt:lpstr>
      <vt:lpstr>Calibri Light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fatma Elshahawy</dc:creator>
  <cp:lastModifiedBy>Ramy Kamal</cp:lastModifiedBy>
  <cp:revision>16</cp:revision>
  <dcterms:created xsi:type="dcterms:W3CDTF">2023-12-29T06:58:26Z</dcterms:created>
  <dcterms:modified xsi:type="dcterms:W3CDTF">2026-09-14T06:29:55Z</dcterms:modified>
</cp:coreProperties>
</file>